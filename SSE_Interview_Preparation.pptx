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88952" cy="109728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</a:rPr>
              <a:t>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DD"/>
                </a:solidFill>
              </a:rPr>
              <a:t>Scottish and Southern Energy plc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5486400" cy="36576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Interview Preparation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651"/>
                </a:solidFill>
              </a:rPr>
              <a:t>Prepared for Muhammad Shaheer Riaz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DD"/>
                </a:solidFill>
              </a:rPr>
              <a:t>MSc Electrical &amp; Electronics Engineering · Anglia Ruskin University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1078992" cy="347472"/>
          </a:xfrm>
          <a:prstGeom prst="rect">
            <a:avLst/>
          </a:prstGeom>
          <a:solidFill>
            <a:srgbClr val="2B4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63931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FTSE 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3611880"/>
            <a:ext cx="2185415" cy="347472"/>
          </a:xfrm>
          <a:prstGeom prst="rect">
            <a:avLst/>
          </a:prstGeom>
          <a:solidFill>
            <a:srgbClr val="2B4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2848" y="3639312"/>
            <a:ext cx="2002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HQ: Perth, Scotland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3611880"/>
            <a:ext cx="2185415" cy="347472"/>
          </a:xfrm>
          <a:prstGeom prst="rect">
            <a:avLst/>
          </a:prstGeom>
          <a:solidFill>
            <a:srgbClr val="2B4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0288" y="3639312"/>
            <a:ext cx="2002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£20.93bn Market Cap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3611880"/>
            <a:ext cx="2084831" cy="347472"/>
          </a:xfrm>
          <a:prstGeom prst="rect">
            <a:avLst/>
          </a:prstGeom>
          <a:solidFill>
            <a:srgbClr val="2B4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2048" y="3639312"/>
            <a:ext cx="1901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£7M Invested Daily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899BB"/>
                </a:solidFill>
              </a:rPr>
              <a:t>Tailored to your CV · Includes real candidate insights from TheStudentRoom · AptitudePrep · SSE Careers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097280"/>
            <a:ext cx="2743200" cy="1051560"/>
          </a:xfrm>
          <a:prstGeom prst="rect">
            <a:avLst/>
          </a:prstGeom>
          <a:solidFill>
            <a:srgbClr val="22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117043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A651"/>
                </a:solidFill>
              </a:rPr>
              <a:t>£33bn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164591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5-Year Investment 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2331720"/>
            <a:ext cx="2743200" cy="1051560"/>
          </a:xfrm>
          <a:prstGeom prst="rect">
            <a:avLst/>
          </a:prstGeom>
          <a:solidFill>
            <a:srgbClr val="22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40487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A651"/>
                </a:solidFill>
              </a:rPr>
              <a:t>83,000+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8803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Jobs Supported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3566160"/>
            <a:ext cx="2743200" cy="1051560"/>
          </a:xfrm>
          <a:prstGeom prst="rect">
            <a:avLst/>
          </a:prstGeom>
          <a:solidFill>
            <a:srgbClr val="22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363931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A651"/>
                </a:solidFill>
              </a:rPr>
              <a:t>16 GW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41148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Renewables by 2032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4800600"/>
            <a:ext cx="2743200" cy="1051560"/>
          </a:xfrm>
          <a:prstGeom prst="rect">
            <a:avLst/>
          </a:prstGeom>
          <a:solidFill>
            <a:srgbClr val="22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487375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A651"/>
                </a:solidFill>
              </a:rPr>
              <a:t>25%+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53492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UK Offshore Wind 2030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651"/>
                </a:solidFill>
              </a:rPr>
              <a:t>YOUR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4747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Meet the Candidate — Muhammad Shaheer Riaz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914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MSc Electrical &amp; Electronics Engineering (Merit expected) · Chelmsford, UK · IET Student Member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651"/>
                </a:solidFill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Divisions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Investment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EE Masters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Interview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417320"/>
            <a:ext cx="38404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1417320"/>
            <a:ext cx="3840480" cy="384048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46304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🎓 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1874519"/>
            <a:ext cx="36576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D5B"/>
                </a:solidFill>
              </a:rPr>
              <a:t>MSc Electrical &amp; Electronics Eng.
Anglia Ruskin University (2025–26)
Merit expected
Distinctions:
• Industrial Process Control
• Digital Systems (VHDL/FPGA)
• Sensing &amp; Sensor Fusion
BSc EE — Institute of Space
&amp; Technology, Pakistan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1417320"/>
            <a:ext cx="38404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1417320"/>
            <a:ext cx="3840480" cy="384048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146304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🔧  INDUSTRIAL EXPERIENCE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7408" y="1874519"/>
            <a:ext cx="36576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D5B"/>
                </a:solidFill>
              </a:rPr>
              <a:t>Instrumentation &amp; Control Engineer
Fauji Fertilizer Co. (FFC), Pakistan
Turnaround + Internship placements
• DCS &amp; ESD field wiring loop-checks
• Triconex safety-system PLC programming
• Flow/pressure/level/temp calibration
• Commissioning new I&amp;C equipment
• 100% accurate cable tagging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1417320"/>
            <a:ext cx="36576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21040" y="1417320"/>
            <a:ext cx="3657600" cy="384048"/>
          </a:xfrm>
          <a:prstGeom prst="rect">
            <a:avLst/>
          </a:prstGeom>
          <a:solidFill>
            <a:srgbClr val="1F5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146304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🔬  MSc DISSERTATION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0768" y="1874519"/>
            <a:ext cx="34747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D5B"/>
                </a:solidFill>
              </a:rPr>
              <a:t>Deep Learning for Predictive
Maintenance in EV Li-Ion Batteries
ANN vs. LSTM architectures for
battery state-of-health &amp; remaining
useful life prediction
NASA degradation datasets
Python · TensorFlow/Keras · vs. Kalman Filter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069080"/>
            <a:ext cx="11704320" cy="384048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11480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651"/>
                </a:solidFill>
              </a:rPr>
              <a:t>CORE TECHNICAL SKILLS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572000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4572000"/>
            <a:ext cx="73152" cy="457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466344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2D5B"/>
                </a:solidFill>
              </a:rPr>
              <a:t>DCS / ESD Systems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18688" y="4572000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18688" y="4572000"/>
            <a:ext cx="73152" cy="457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0" y="466344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2D5B"/>
                </a:solidFill>
              </a:rPr>
              <a:t>PLC (Triconex, Ladder, FBD)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63056" y="4572000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63056" y="4572000"/>
            <a:ext cx="73152" cy="457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7648" y="466344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2D5B"/>
                </a:solidFill>
              </a:rPr>
              <a:t>Power Conversion Systems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07424" y="4572000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07424" y="4572000"/>
            <a:ext cx="73152" cy="457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72016" y="466344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2D5B"/>
                </a:solidFill>
              </a:rPr>
              <a:t>FPGA / VHDL Design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5138928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4320" y="5138928"/>
            <a:ext cx="73152" cy="457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" y="523036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2D5B"/>
                </a:solidFill>
              </a:rPr>
              <a:t>Field Instrument Calibration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18688" y="5138928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18688" y="5138928"/>
            <a:ext cx="73152" cy="457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83280" y="523036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2D5B"/>
                </a:solidFill>
              </a:rPr>
              <a:t>PCB &amp; Circuit Design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63056" y="5138928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63056" y="5138928"/>
            <a:ext cx="73152" cy="457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27648" y="523036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2D5B"/>
                </a:solidFill>
              </a:rPr>
              <a:t>Python / ML (ANN, LSTM)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07424" y="5138928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07424" y="5138928"/>
            <a:ext cx="73152" cy="457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72016" y="523036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2D5B"/>
                </a:solidFill>
              </a:rPr>
              <a:t>DSP &amp; Sensor Fusion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570585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74320" y="5705856"/>
            <a:ext cx="73152" cy="457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79729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2D5B"/>
                </a:solidFill>
              </a:rPr>
              <a:t>HMI Design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18688" y="570585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218688" y="5705856"/>
            <a:ext cx="73152" cy="457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83280" y="579729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2D5B"/>
                </a:solidFill>
              </a:rPr>
              <a:t>MATLAB / Proteus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63056" y="570585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63056" y="5705856"/>
            <a:ext cx="73152" cy="457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27648" y="579729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2D5B"/>
                </a:solidFill>
              </a:rPr>
              <a:t>Embedded (Arduino, C++)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07424" y="570585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07424" y="5705856"/>
            <a:ext cx="73152" cy="457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272016" y="579729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2D5B"/>
                </a:solidFill>
              </a:rPr>
              <a:t>Motor Control Systems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4320" y="6327648"/>
            <a:ext cx="1170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1B2D5B"/>
                </a:solidFill>
              </a:rPr>
              <a:t>💡 Your instrumentation/control + power conversion + battery ML profile maps onto three SSE divisions — see next slide.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651"/>
                </a:solidFill>
              </a:rPr>
              <a:t>COMPANY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4747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What is SSE plc?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914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A FTSE 100 energy company at the heart of the UK's net zero transition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651"/>
                </a:solidFill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Divisions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Investment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EE Masters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Interview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508760"/>
            <a:ext cx="2651760" cy="114300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5727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651"/>
                </a:solidFill>
              </a:rPr>
              <a:t>💷 £20.93bn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11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Market Capitalisation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1508760"/>
            <a:ext cx="2651760" cy="114300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15727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651"/>
                </a:solidFill>
              </a:rPr>
              <a:t>👷 83,000+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011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Jobs Supported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508760"/>
            <a:ext cx="2651760" cy="114300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5727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651"/>
                </a:solidFill>
              </a:rPr>
              <a:t>⚡ ~£7M/day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011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Daily Investment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1508760"/>
            <a:ext cx="2651760" cy="114300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15727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651"/>
                </a:solidFill>
              </a:rPr>
              <a:t>📍 Perth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011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HQ, Scotland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834640"/>
            <a:ext cx="5303520" cy="3520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290779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D5B"/>
                </a:solidFill>
              </a:rPr>
              <a:t>History &amp; Background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310128"/>
            <a:ext cx="5074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2D5B"/>
                </a:solidFill>
              </a:rPr>
              <a:t>• Formed in 1998 from merger of Scottish Hydro-Electric &amp; Southern Electric
• Listed on London Stock Exchange — constituent of FTSE 100
• Strategic pivot since 2018: sold household supply to focus entirely on low-carbon electricity infrastructure
• Operates across UK and Ireland with growing international renewables presence
• Uniquely positioned as a pure-play energy transition business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2834640"/>
            <a:ext cx="5943600" cy="1371600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0" y="2834640"/>
            <a:ext cx="109728" cy="13716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2926080"/>
            <a:ext cx="5577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B2D5B"/>
                </a:solidFill>
              </a:rPr>
              <a:t>"Providing the energy needed today while
building a better world of energy for tomorrow."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379476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</a:rPr>
              <a:t>— SSE plc, Annual Report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4343400"/>
            <a:ext cx="59436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440740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D5B"/>
                </a:solidFill>
              </a:rPr>
              <a:t>Why SSE is Different from Other Energy Companies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4846320"/>
            <a:ext cx="5669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B2D5B"/>
                </a:solidFill>
              </a:rPr>
              <a:t>• NOT a consumer-facing energy supplier (sold that business)
• 100% focused on infrastructure: grids, wind, flexible generation
• One of the UK's largest single private capital investors
• Regulated revenue streams provide long-term stability
• Engineers work on projects at the frontier of the energy transition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651"/>
                </a:solidFill>
              </a:rPr>
              <a:t>BUSINESS DIVISIONS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4747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How SSE is Structured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914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Five principal units — know which one you are interviewing for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651"/>
                </a:solidFill>
              </a:rPr>
              <a:t>Divisions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Investment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EE Masters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Interview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1417320"/>
            <a:ext cx="22860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1417320"/>
            <a:ext cx="2286000" cy="77724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14630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SSE Renewables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18288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FFFFF"/>
                </a:solidFill>
              </a:rPr>
              <a:t>Onshore/offshore wind, hydro, solar, battery 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" y="2286000"/>
            <a:ext cx="2057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B2D5B"/>
                </a:solidFill>
              </a:rPr>
              <a:t>9GW by 2027 → 16GW by 2032
25%+ of UK 2030 offshore wind target
Dogger Bank: world's largest OWF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1417320"/>
            <a:ext cx="22860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51760" y="1417320"/>
            <a:ext cx="2286000" cy="77724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14630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SSEN Transmission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18288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FFFFF"/>
                </a:solidFill>
              </a:rPr>
              <a:t>HV electricity transmission network, north Scotland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1488" y="2286000"/>
            <a:ext cx="2057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B2D5B"/>
                </a:solidFill>
              </a:rPr>
              <a:t>£22bn investment planned
11 Pathway to 2030 projects
20%+ of UK networks investment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4920" y="1417320"/>
            <a:ext cx="22860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74920" y="1417320"/>
            <a:ext cx="2286000" cy="777240"/>
          </a:xfrm>
          <a:prstGeom prst="rect">
            <a:avLst/>
          </a:prstGeom>
          <a:solidFill>
            <a:srgbClr val="1F5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59" y="14630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SSEN Distribution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59" y="18288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FFFFF"/>
                </a:solidFill>
              </a:rPr>
              <a:t>DNO: south England + north Scotland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4648" y="2286000"/>
            <a:ext cx="2057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B2D5B"/>
                </a:solidFill>
              </a:rPr>
              <a:t>3.9M homes &amp; businesses served
£5bn planned investment
Smart grid &amp; EV network upgrades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79" y="1417320"/>
            <a:ext cx="22860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98079" y="1417320"/>
            <a:ext cx="2286000" cy="777240"/>
          </a:xfrm>
          <a:prstGeom prst="rect">
            <a:avLst/>
          </a:prstGeom>
          <a:solidFill>
            <a:srgbClr val="2D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19" y="14630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SSE Thermal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19" y="18288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FFFFF"/>
                </a:solidFill>
              </a:rPr>
              <a:t>Flexible generation: gas, CCS, hydrogen, EfW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07807" y="2286000"/>
            <a:ext cx="2057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B2D5B"/>
                </a:solidFill>
              </a:rPr>
              <a:t>Peterhead CCS: Scotland's first
910MW + 1.5Mt CO₂/yr captured
Hydrogen transition ready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01200" y="1417320"/>
            <a:ext cx="25146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01200" y="1417320"/>
            <a:ext cx="2514600" cy="77724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92640" y="146304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SSE Energy Solutions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182880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FFFFF"/>
                </a:solidFill>
              </a:rPr>
              <a:t>B2B low-carbon local energy infrastructure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10928" y="228600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B2D5B"/>
                </a:solidFill>
              </a:rPr>
              <a:t>EV charging, heat networks, solar PV
Private wire networks for industry
Energy-as-a-service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651"/>
                </a:solidFill>
              </a:rPr>
              <a:t>KEY PROJECTS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4747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Flagship Programmes You Must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914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Name these projects in your interview — shows genuine research depth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Divisions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651"/>
                </a:solidFill>
              </a:rPr>
              <a:t>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Investment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EE Masters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Interview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1417320"/>
            <a:ext cx="278892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1417320"/>
            <a:ext cx="2788920" cy="100584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" y="1444752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144475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Dogger Bank
Wind Farm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" y="2487168"/>
            <a:ext cx="2578608" cy="274320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" y="2505456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1B2D5B"/>
                </a:solidFill>
              </a:rPr>
              <a:t>WORLD'S LARGEST OFFSHORE WIND FARM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" y="2834640"/>
            <a:ext cx="2606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B2D5B"/>
                </a:solidFill>
              </a:rPr>
              <a:t>Phases A+B+C = 3.6GW + Phase D = 1.5GW
Partners: SSE, Equinor, Vårgrønn
Yorkshire coast, North Sea
Haliade-X 13MW+ turbines
Foundations complete: Dec 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8688" y="1417320"/>
            <a:ext cx="278892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18688" y="1417320"/>
            <a:ext cx="2788920" cy="100584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28416" y="1444752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75887" y="144475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Viking
Wind Farm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28416" y="2487168"/>
            <a:ext cx="2578608" cy="274320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46704" y="2505456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1B2D5B"/>
                </a:solidFill>
              </a:rPr>
              <a:t>EUROPE'S LARGEST ONSHORE WIND FARM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28416" y="2834640"/>
            <a:ext cx="2606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B2D5B"/>
                </a:solidFill>
              </a:rPr>
              <a:t>443MW onshore — Shetland Islands
Operational: August 2024
Required dedicated HVDC interconnector
(first ever subsea link to Shetland)
Major Scottish energy milestone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08776" y="1417320"/>
            <a:ext cx="278892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08776" y="1417320"/>
            <a:ext cx="2788920" cy="1005840"/>
          </a:xfrm>
          <a:prstGeom prst="rect">
            <a:avLst/>
          </a:prstGeom>
          <a:solidFill>
            <a:srgbClr val="1F5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1444752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5976" y="144475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Peterhead CCS
Power Station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18504" y="2487168"/>
            <a:ext cx="2578608" cy="274320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6792" y="2505456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1B2D5B"/>
                </a:solidFill>
              </a:rPr>
              <a:t>SCOTLAND'S FIRST CCS PLANT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2834640"/>
            <a:ext cx="2606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B2D5B"/>
                </a:solidFill>
              </a:rPr>
              <a:t>910MW gas + carbon capture
Up to 1.5M tonnes CO₂/yr by 2030
SSE Thermal + Equinor partnership
Part of Acorn Carbon Cluster
Hydrogen economy enabler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98864" y="1417320"/>
            <a:ext cx="278892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98864" y="1417320"/>
            <a:ext cx="2788920" cy="1005840"/>
          </a:xfrm>
          <a:prstGeom prst="rect">
            <a:avLst/>
          </a:prstGeom>
          <a:solidFill>
            <a:srgbClr val="2D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08592" y="1444752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56064" y="144475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Pathway
to 2030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08592" y="2487168"/>
            <a:ext cx="2578608" cy="274320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2505456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1B2D5B"/>
                </a:solidFill>
              </a:rPr>
              <a:t>SSEN TRANSMISSION GRID PROGRAMME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08592" y="2834640"/>
            <a:ext cx="2606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B2D5B"/>
                </a:solidFill>
              </a:rPr>
              <a:t>11 major grid projects in north Scotland
Core of £22bn transmission investment
New OHL, substations, HVDC cables
Enables renewable power to flow south
Delivering RIIO-T2 &amp; future RIIO-T3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651"/>
                </a:solidFill>
              </a:rPr>
              <a:t>INVESTMENT &amp;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4747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SSE's £33bn Five-Year Investment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914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Announced November 2025 — one of the UK's largest private infrastructure programmes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Divisions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651"/>
                </a:solidFill>
              </a:rPr>
              <a:t>Investment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EE Masters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Interview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4754880" cy="438912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303520" y="1508760"/>
            <a:ext cx="91440" cy="100584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40680" y="1508760"/>
            <a:ext cx="649224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20" y="15544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A651"/>
                </a:solidFill>
              </a:rPr>
              <a:t>£22bn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56362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D5B"/>
                </a:solidFill>
              </a:rPr>
              <a:t>SSEN Transmission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1911095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</a:rPr>
              <a:t>67% of total — grid upgrades in north Scotland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2743200"/>
            <a:ext cx="91440" cy="100584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40680" y="2743200"/>
            <a:ext cx="649224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32120" y="27889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D5B"/>
                </a:solidFill>
              </a:rPr>
              <a:t>£5bn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279806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D5B"/>
                </a:solidFill>
              </a:rPr>
              <a:t>SSEN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14553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</a:rPr>
              <a:t>15% of total — smart grid &amp; EV network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3977639"/>
            <a:ext cx="91440" cy="1005840"/>
          </a:xfrm>
          <a:prstGeom prst="rect">
            <a:avLst/>
          </a:prstGeom>
          <a:solidFill>
            <a:srgbClr val="1F5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40680" y="3977639"/>
            <a:ext cx="649224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32120" y="4023359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5C35"/>
                </a:solidFill>
              </a:rPr>
              <a:t>£4bn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032503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D5B"/>
                </a:solidFill>
              </a:rPr>
              <a:t>SSE Renewables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37997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</a:rPr>
              <a:t>12% of total — new wind, solar, storage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0" y="5212080"/>
            <a:ext cx="91440" cy="100584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40680" y="5212080"/>
            <a:ext cx="649224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32120" y="525780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6B7280"/>
                </a:solidFill>
              </a:rPr>
              <a:t>£2bn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26694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D5B"/>
                </a:solidFill>
              </a:rPr>
              <a:t>SSE Thermal + Other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61441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</a:rPr>
              <a:t>6% of total — CCS, hydrogen, flexibility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03520" y="6400800"/>
            <a:ext cx="6629400" cy="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03520" y="6263640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1B2D5B"/>
                </a:solidFill>
              </a:rPr>
              <a:t>80% of the entire plan goes directly into the electricity grid — this is fundamentally a grid engineering story.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651"/>
                </a:solidFill>
              </a:rPr>
              <a:t>INVESTMENT &amp; GROWTH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4747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Renewable Capacity Roadmap + Strategic Timeline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914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SSE is targeting a fivefold increase in renewables output by 2032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Divisions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651"/>
                </a:solidFill>
              </a:rPr>
              <a:t>Investment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EE Masters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Interview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669280" cy="384048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417320"/>
            <a:ext cx="5852160" cy="292608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09360" y="4526280"/>
            <a:ext cx="1051560" cy="96012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553712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864608"/>
            <a:ext cx="960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Viking Wind Farm
Operational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79792" y="4526280"/>
            <a:ext cx="1051560" cy="9601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25512" y="4553712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5512" y="4864608"/>
            <a:ext cx="960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£33bn Plan
Announced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50224" y="4526280"/>
            <a:ext cx="1051560" cy="96012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95944" y="4553712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5944" y="4864608"/>
            <a:ext cx="960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9GW Target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20656" y="4526280"/>
            <a:ext cx="1051560" cy="9601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66376" y="4553712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~2029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66376" y="4864608"/>
            <a:ext cx="960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Peterhead CCS
Online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991088" y="4526280"/>
            <a:ext cx="1051560" cy="96012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36808" y="4553712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2032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36808" y="4864608"/>
            <a:ext cx="960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</a:rPr>
              <a:t>16GW Target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651"/>
                </a:solidFill>
              </a:rPr>
              <a:t>UK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4747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How SSE Has Transformed Britain's Energy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914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From infrastructure investment to jobs and economic 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Divisions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Investment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651"/>
                </a:solidFill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EE Masters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Interview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943600" cy="393192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492240" y="1444752"/>
            <a:ext cx="2651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1444752"/>
            <a:ext cx="2651760" cy="384048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79" y="1499616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Energy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1920240"/>
            <a:ext cx="2468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B2D5B"/>
                </a:solidFill>
              </a:rPr>
              <a:t>Reduces UK exposure to volatile global energy markets by building homegrown generation &amp; infrastructure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81159" y="1444752"/>
            <a:ext cx="2651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81159" y="1444752"/>
            <a:ext cx="2651760" cy="384048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599" y="1499616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Job Creation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599" y="1920240"/>
            <a:ext cx="2468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B2D5B"/>
                </a:solidFill>
              </a:rPr>
              <a:t>83,000+ jobs in engineering, construction, operations and supply chains across Scotland and England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4005072"/>
            <a:ext cx="2651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92240" y="4005072"/>
            <a:ext cx="2651760" cy="384048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79" y="4059935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Net Zero Leadership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79" y="4480560"/>
            <a:ext cx="2468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B2D5B"/>
                </a:solidFill>
              </a:rPr>
              <a:t>Delivering 25%+ of UK's 2030 offshore wind target and 20%+ of all electricity network investment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81159" y="4005072"/>
            <a:ext cx="2651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81159" y="4005072"/>
            <a:ext cx="2651760" cy="384048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599" y="4059935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Economic Output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599" y="4480560"/>
            <a:ext cx="24688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B2D5B"/>
                </a:solidFill>
              </a:rPr>
              <a:t>£9.7bn GVA added to UK economy; £3.4bn specifically to Scottish economy annually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651"/>
                </a:solidFill>
              </a:rPr>
              <a:t>COMPANY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4747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SSE SET — What SSE Stands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914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These values underpin every competency question. Know them cold.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Divisions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Investment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651"/>
                </a:solidFill>
              </a:rPr>
              <a:t>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EE Masters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Interview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4389120" cy="438912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846320" y="1417320"/>
            <a:ext cx="329184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417320"/>
            <a:ext cx="502920" cy="160020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1874519"/>
            <a:ext cx="411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1490472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D5B"/>
                </a:solidFill>
              </a:rPr>
              <a:t>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1828800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2D5B"/>
                </a:solidFill>
              </a:rPr>
              <a:t>TOP PRIORITY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2075688"/>
            <a:ext cx="2606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B2D5B"/>
                </a:solidFill>
              </a:rPr>
              <a:t>Non-negotiable in HV environments. Mention this FIRST if asked about SSE's values. Demonstrate a safety-first mindset in every competency answer.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1417320"/>
            <a:ext cx="329184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21040" y="1417320"/>
            <a:ext cx="502920" cy="1600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1874519"/>
            <a:ext cx="411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490472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D5B"/>
                </a:solidFill>
              </a:rPr>
              <a:t>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1828800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0A651"/>
                </a:solidFill>
              </a:rPr>
              <a:t>COMMUNITY FOCUS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075688"/>
            <a:ext cx="2606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B2D5B"/>
                </a:solidFill>
              </a:rPr>
              <a:t>Serving communities, customers and stakeholders. SSE operates licensed infrastructure with obligations to the public.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063240"/>
            <a:ext cx="329184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063240"/>
            <a:ext cx="502920" cy="160020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92040" y="3520440"/>
            <a:ext cx="411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40680" y="3136392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D5B"/>
                </a:solidFill>
              </a:rPr>
              <a:t>Efficiency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3474720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2D5B"/>
                </a:solidFill>
              </a:rPr>
              <a:t>OPERATIONAL EXCELLENCE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3721608"/>
            <a:ext cx="2606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B2D5B"/>
                </a:solidFill>
              </a:rPr>
              <a:t>Responsible stewardship of capital — critical when spending £7M every day on infrastructure.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3063240"/>
            <a:ext cx="329184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21040" y="3063240"/>
            <a:ext cx="502920" cy="1600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3520440"/>
            <a:ext cx="411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3136392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D5B"/>
                </a:solidFill>
              </a:rPr>
              <a:t>Sustainability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5400" y="3474720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0A651"/>
                </a:solidFill>
              </a:rPr>
              <a:t>NET ZERO LEADERSHIP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3721608"/>
            <a:ext cx="2606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B2D5B"/>
                </a:solidFill>
              </a:rPr>
              <a:t>Every investment decision is judged against long-term environmental impact and 2050 net zero targets.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46320" y="4709160"/>
            <a:ext cx="329184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46320" y="4709160"/>
            <a:ext cx="502920" cy="160020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92040" y="5166360"/>
            <a:ext cx="411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40680" y="4782312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D5B"/>
                </a:solidFill>
              </a:rPr>
              <a:t>Excellence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40680" y="5120640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2D5B"/>
                </a:solidFill>
              </a:rPr>
              <a:t>ENGINEERING STANDARDS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80" y="5367528"/>
            <a:ext cx="2606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B2D5B"/>
                </a:solidFill>
              </a:rPr>
              <a:t>Setting and maintaining the highest professional standards — directly relevant to your EE Masters.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1040" y="4709160"/>
            <a:ext cx="329184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321040" y="4709160"/>
            <a:ext cx="502920" cy="16002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66760" y="5166360"/>
            <a:ext cx="411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400" y="4782312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D5B"/>
                </a:solidFill>
              </a:rPr>
              <a:t>Teamwork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400" y="5120640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0A651"/>
                </a:solidFill>
              </a:rPr>
              <a:t>CROSS-DISCIPLINE COLLABORATION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15400" y="5367528"/>
            <a:ext cx="2606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B2D5B"/>
                </a:solidFill>
              </a:rPr>
              <a:t>Multidisciplinary teams: engineers, project managers, environmental, commercial, policy.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6281928"/>
            <a:ext cx="11612880" cy="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" y="623620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1">
                <a:solidFill>
                  <a:srgbClr val="1B2D5B"/>
                </a:solidFill>
              </a:rPr>
              <a:t>"Doing the Right Thing" — SSE's overarching leadership ethos underpinning all six values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651"/>
                </a:solidFill>
              </a:rPr>
              <a:t>YOUR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4747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Why You Are a Strong Fit for 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914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Connecting your specific experience to SSE's divisions and flagship projects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Divisions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Investment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651"/>
                </a:solidFill>
              </a:rPr>
              <a:t>EE Masters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Interview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463040"/>
            <a:ext cx="1170432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1463040"/>
            <a:ext cx="2743200" cy="1481328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160020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SSE Thermal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17627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CEEDD"/>
                </a:solidFill>
              </a:rPr>
              <a:t>◆ Your 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2423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</a:rPr>
              <a:t>Your DCS/ESD &amp; Triconex safety-system experience at FFC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1627632"/>
            <a:ext cx="8595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D5B"/>
                </a:solidFill>
              </a:rPr>
              <a:t>Peterhead Carbon Capture (910MW) and SSE's gas fleet run on exactly these control &amp; emergency-shutdown systems. Your hands-on plant turnaround and commissioning experience is directly transferable — and your safety-critical mindset matches SSE's #1 value.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090672"/>
            <a:ext cx="1170432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3090672"/>
            <a:ext cx="2743200" cy="1481328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22783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SSE Renewables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3803904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CEEDD"/>
                </a:solidFill>
              </a:rPr>
              <a:t>◆ Your edge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050791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</a:rPr>
              <a:t>Your EV Li-Ion battery ML dissertation + Power Conversion module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55264"/>
            <a:ext cx="8595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D5B"/>
                </a:solidFill>
              </a:rPr>
              <a:t>SSE is rapidly expanding grid-scale battery storage. Your ANN/LSTM predictive-maintenance and state-of-health work applies directly to battery asset management, while Power Conversion Systems underpins the inverters and HVDC converters in wind &amp; storage.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18304"/>
            <a:ext cx="1170432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4718304"/>
            <a:ext cx="2743200" cy="1481328"/>
          </a:xfrm>
          <a:prstGeom prst="rect">
            <a:avLst/>
          </a:prstGeom>
          <a:solidFill>
            <a:srgbClr val="2D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485546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SSEN Transmission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431536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CEEDD"/>
                </a:solidFill>
              </a:rPr>
              <a:t>◆ Your edge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5678424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</a:rPr>
              <a:t>Your FPGA/VHDL, calibration &amp; sensor-fusion skills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4882896"/>
            <a:ext cx="8595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2D5B"/>
                </a:solidFill>
              </a:rPr>
              <a:t>Protection relays, SCADA, substation commissioning and condition monitoring across the £22bn Pathway to 2030 programme need exactly these digital-design, instrumentation and signal-processing skills. Your calibration experience transfers to substation work.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651"/>
                </a:solidFill>
              </a:rPr>
              <a:t>YOUR EE MASTERS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4747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How Your Degree Maps to SSE's Needs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914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Link every skill to a named project or SSE business unit in your answers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Divisions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Investment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651"/>
                </a:solidFill>
              </a:rPr>
              <a:t>EE Masters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Interview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943600" cy="466344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400800" y="1417320"/>
            <a:ext cx="557784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4630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D5B"/>
                </a:solidFill>
              </a:rPr>
              <a:t>Your Skill → SSE Role Mapping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783080"/>
            <a:ext cx="5577840" cy="32004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8288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YOUR SKILL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182880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SSE RELEVANCE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148840"/>
            <a:ext cx="5577840" cy="53035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2221992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1B2D5B"/>
                </a:solidFill>
              </a:rPr>
              <a:t>Industrial Process Control (Dist.)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194560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1B2D5B"/>
                </a:solidFill>
              </a:rPr>
              <a:t>Power station control — SSE Thermal, Peterhead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688336"/>
            <a:ext cx="55778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276148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1B2D5B"/>
                </a:solidFill>
              </a:rPr>
              <a:t>DCS / ESD Safety Systems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273405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1B2D5B"/>
                </a:solidFill>
              </a:rPr>
              <a:t>Emergency shutdown &amp; control — SSE Thermal fleet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227832"/>
            <a:ext cx="5577840" cy="53035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330098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1B2D5B"/>
                </a:solidFill>
              </a:rPr>
              <a:t>Power Conversion Systems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5128" y="3273552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1B2D5B"/>
                </a:solidFill>
              </a:rPr>
              <a:t>HVDC, inverters — offshore wind &amp; battery storage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767328"/>
            <a:ext cx="55778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384048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1B2D5B"/>
                </a:solidFill>
              </a:rPr>
              <a:t>PLC Programming (Triconex)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5128" y="3813048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1B2D5B"/>
                </a:solidFill>
              </a:rPr>
              <a:t>Safety-critical automation across SSE assets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306824"/>
            <a:ext cx="5577840" cy="53035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4379976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1B2D5B"/>
                </a:solidFill>
              </a:rPr>
              <a:t>Field Instrument Calibration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25128" y="43525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1B2D5B"/>
                </a:solidFill>
              </a:rPr>
              <a:t>Substation commissioning — SSEN Transmission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4846320"/>
            <a:ext cx="55778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3952" y="4919472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1B2D5B"/>
                </a:solidFill>
              </a:rPr>
              <a:t>FPGA / VHDL 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4892040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1B2D5B"/>
                </a:solidFill>
              </a:rPr>
              <a:t>Protection relays &amp; digital control systems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5385816"/>
            <a:ext cx="5577840" cy="53035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545896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1B2D5B"/>
                </a:solidFill>
              </a:rPr>
              <a:t>Battery ML Dissertation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25128" y="543153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1B2D5B"/>
                </a:solidFill>
              </a:rPr>
              <a:t>Grid-scale storage health — SSE Renewables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5925312"/>
            <a:ext cx="55778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3952" y="599846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1B2D5B"/>
                </a:solidFill>
              </a:rPr>
              <a:t>DSP &amp; Sensor Fusion (Dist.)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25128" y="5971032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1B2D5B"/>
                </a:solidFill>
              </a:rPr>
              <a:t>Condition monitoring of network assets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6400800"/>
            <a:ext cx="5577840" cy="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629107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30" b="1" i="1">
                <a:solidFill>
                  <a:srgbClr val="1B2D5B"/>
                </a:solidFill>
              </a:rPr>
              <a:t>💡 Your line: "My Power Conversion module + battery dissertation map straight onto SSE's grid-scale storage and offshore inverters."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651"/>
                </a:solidFill>
              </a:rPr>
              <a:t>INTERVIEW PREP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4747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Full SSE Recruitment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914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Sourced from real candidates on TheStudentRoom &amp; AptitudePrep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Divisions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Investment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EE Masters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651"/>
                </a:solidFill>
              </a:rPr>
              <a:t>Interview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4114800" cy="475488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663440" y="1444752"/>
            <a:ext cx="502920" cy="114300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7190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1444752"/>
            <a:ext cx="67665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1499616"/>
            <a:ext cx="6492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D5B"/>
                </a:solidFill>
              </a:rPr>
              <a:t>Online Application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8" y="1847088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B2D5B"/>
                </a:solidFill>
              </a:rPr>
              <a:t>CV + motivation questions
Tailor to your specific division (Transmission, Renewables, Thermal, Distribution)
~200 graduates hired per year — competitive but achievable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2743200"/>
            <a:ext cx="502920" cy="11430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0175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12080" y="2743200"/>
            <a:ext cx="67665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21808" y="2798064"/>
            <a:ext cx="6492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D5B"/>
                </a:solidFill>
              </a:rPr>
              <a:t>SHL Online 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808" y="3145536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B2D5B"/>
                </a:solidFill>
              </a:rPr>
              <a:t>• SJT: 16 questions (values alignment)
• Ability Test: 24 numerical/analytical/deductive questions
• Described by candidates as "absolutely brutal — timed out at Q8"
• Practice at shl.com — same format as NatWest, KPMG etc.
• No verbal reasoning for engineering roles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4041648"/>
            <a:ext cx="502920" cy="114300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43159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12080" y="4041648"/>
            <a:ext cx="67665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21808" y="4096511"/>
            <a:ext cx="6492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D5B"/>
                </a:solidFill>
              </a:rPr>
              <a:t>Video Interview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21808" y="4443984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B2D5B"/>
                </a:solidFill>
              </a:rPr>
              <a:t>• 4 questions | 3 min think | 4 min answer per question
• Real questions asked: "Why this division?", "3 energy challenges"
• Competency: Safety + Initiative
• Can be pre-recorded or live
• Professional background, test audio beforehand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63440" y="5340096"/>
            <a:ext cx="502920" cy="11430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63440" y="56144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12080" y="5340096"/>
            <a:ext cx="67665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21808" y="5394959"/>
            <a:ext cx="6492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2D5B"/>
                </a:solidFill>
              </a:rPr>
              <a:t>Assessment Centre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21808" y="5742432"/>
            <a:ext cx="6492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B2D5B"/>
                </a:solidFill>
              </a:rPr>
              <a:t>• Group discussion + individual presentation + role play
• Presentation brief is "intentionally vague" — structure it yourself
• Transmission final stage was "more technical than expected"
• Virtual or in-person — ask recruiter for format in advance
• ⚠ No visa sponsorship for graduate engineering roles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651"/>
                </a:solidFill>
              </a:rPr>
              <a:t>INTERVIEW PREP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4747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STAR Method + Key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914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SSE officially recommends STAR — prepare your answers before the 3-minute think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Divisions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Investment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EE Masters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651"/>
                </a:solidFill>
              </a:rPr>
              <a:t>Interview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417320"/>
            <a:ext cx="4572000" cy="274320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481328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651"/>
                </a:solidFill>
              </a:rPr>
              <a:t>The STAR Technique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20240"/>
            <a:ext cx="457200" cy="41148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194767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94767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Situation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1965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DDEE"/>
                </a:solidFill>
              </a:rPr>
              <a:t>Set the scene — context, when, where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41448"/>
            <a:ext cx="457200" cy="41148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468879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246887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248716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DDEE"/>
                </a:solidFill>
              </a:rPr>
              <a:t>Your specific responsibility or challenge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962656"/>
            <a:ext cx="457200" cy="41148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99008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29900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300837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DDEE"/>
                </a:solidFill>
              </a:rPr>
              <a:t>"I" not "we" — your specific decisions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483864"/>
            <a:ext cx="457200" cy="41148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351129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35112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352958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DDEE"/>
                </a:solidFill>
              </a:rPr>
              <a:t>Outcome — quantify where possible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251960"/>
            <a:ext cx="4572000" cy="1874519"/>
          </a:xfrm>
          <a:prstGeom prst="rect">
            <a:avLst/>
          </a:prstGeom>
          <a:solidFill>
            <a:srgbClr val="22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31596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651"/>
                </a:solidFill>
              </a:rPr>
              <a:t>Your STAR Example (Safety — FFC):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617720"/>
            <a:ext cx="429768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</a:rPr>
              <a:t>"During a plant turnaround at FFC [S], I was responsible for loop-checking DCS and ESD field wiring across multiple marshalling cabinets [T]. I systematically verified every cable tag and termination before energising [A], achieving 100% accurate tagging and helping minimise plant downtime with zero safety incidents [R]." → Link to SSE Thermal's safety-critical control systems.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74920" y="1417320"/>
            <a:ext cx="6903720" cy="347472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0" y="1444752"/>
            <a:ext cx="6766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COMMON INTERVIEW QUESTIONS — MODEL ANSWER STRUCTURES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74920" y="1810512"/>
            <a:ext cx="6903720" cy="6858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66360" y="1847088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Q1: Why SSE / this division?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66360" y="2121408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FFFFF"/>
                </a:solidFill>
              </a:rPr>
              <a:t>Your DCS/ESD + power conversion + battery ML background → SSE Thermal control or Renewables storage; cite Peterhead / £33bn scale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4920" y="2532888"/>
            <a:ext cx="6903720" cy="685800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66360" y="2569464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2D5B"/>
                </a:solidFill>
              </a:rPr>
              <a:t>Q2: 3 energy challenges facing SSE?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66360" y="2843784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B2D5B"/>
                </a:solidFill>
              </a:rPr>
              <a:t>Thermal: grid intermittency, CCS economics, hydrogen transition
Transmission: N-S bottlenecks, supply chain lead times, planning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74920" y="3255264"/>
            <a:ext cx="6903720" cy="6858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66360" y="3291840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Q3: Time you demonstrated SAFETY?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66360" y="3566160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FFFFF"/>
                </a:solidFill>
              </a:rPr>
              <a:t>Your FFC turnaround: loop-checking DCS/ESD wiring, 100% accurate cable tagging before energising — SSE's #1 value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74920" y="3977639"/>
            <a:ext cx="6903720" cy="685800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66360" y="4014215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2D5B"/>
                </a:solidFill>
              </a:rPr>
              <a:t>Q4: Complex engineering problem solved?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66360" y="4288536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B2D5B"/>
                </a:solidFill>
              </a:rPr>
              <a:t>Your MSc dissertation: ANN vs LSTM for EV battery health, or Arduino-PLC module — explain your thinking process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74920" y="4700016"/>
            <a:ext cx="6903720" cy="6858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66360" y="4736592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Q5: Example of teamwork?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66360" y="5010912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FFFFF"/>
                </a:solidFill>
              </a:rPr>
              <a:t>Collaborating with senior engineers on FFC commissioning, or Hult Prize leadership — adapt style for non-specialists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74920" y="5422392"/>
            <a:ext cx="6903720" cy="685800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6360" y="5458968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2D5B"/>
                </a:solidFill>
              </a:rPr>
              <a:t>Q6: Energy sector in 10 years?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66360" y="5733288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B2D5B"/>
                </a:solidFill>
              </a:rPr>
              <a:t>Offshore wind dominance, grid transformation (SSE's 80% bet), hydrogen, digitalisation, battery storage revolution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74920" y="6144768"/>
            <a:ext cx="6903720" cy="6858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66360" y="6181344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Q7: Questions to ask SSE?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6360" y="6455664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FFFFF"/>
                </a:solidFill>
              </a:rPr>
              <a:t>"What would you expect from me in the first 90 days?" — directly recommended by SSE's own recruiter blog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651"/>
                </a:solidFill>
              </a:rPr>
              <a:t>INTERVIEW PREP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4747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Key Facts to Nail + Red Flags to Avoid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914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Walk in knowing these — walk out having impressed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Divisions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Investment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EE Masters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651"/>
                </a:solidFill>
              </a:rPr>
              <a:t>Interview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417320"/>
            <a:ext cx="5943600" cy="41148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444752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✓  KEY FACTS TO DROP IN THE INTERVIEW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856231"/>
            <a:ext cx="594360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1956816"/>
            <a:ext cx="320040" cy="310896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197510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9659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B2D5B"/>
                </a:solidFill>
              </a:rPr>
              <a:t>Know your exact SSE division &amp; its lead projects by 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395728"/>
            <a:ext cx="320040" cy="310896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241401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240487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B2D5B"/>
                </a:solidFill>
              </a:rPr>
              <a:t>Name-drop: Dogger Bank, Viking, Peterhead CCS, Pathway to 2030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834640"/>
            <a:ext cx="320040" cy="310896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285292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843784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B2D5B"/>
                </a:solidFill>
              </a:rPr>
              <a:t>Cite the £33bn five-year plan — 80% goes to the electricity grid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273552"/>
            <a:ext cx="320040" cy="310896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329184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3282696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B2D5B"/>
                </a:solidFill>
              </a:rPr>
              <a:t>"Safety is SSE's number one value" — say this naturally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712463"/>
            <a:ext cx="320040" cy="310896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3730751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721607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B2D5B"/>
                </a:solidFill>
              </a:rPr>
              <a:t>Use "energy transition" and "net zero" confidently throughout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4151376"/>
            <a:ext cx="320040" cy="310896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4169663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16052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B2D5B"/>
                </a:solidFill>
              </a:rPr>
              <a:t>SSE targets 16 GW renewable capacity by 2032 (fivefold increase)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590288"/>
            <a:ext cx="320040" cy="310896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460857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599432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B2D5B"/>
                </a:solidFill>
              </a:rPr>
              <a:t>SSE delivers 25%+ of UK's 2030 40GW offshore wind target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029200"/>
            <a:ext cx="320040" cy="310896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504748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5038344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B2D5B"/>
                </a:solidFill>
              </a:rPr>
              <a:t>Grid intermittency makes flexible generation + storage essential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5468112"/>
            <a:ext cx="320040" cy="310896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5486399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77255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B2D5B"/>
                </a:solidFill>
              </a:rPr>
              <a:t>Ask: "What would you expect from me in the first 90 days?"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907024"/>
            <a:ext cx="320040" cy="310896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0040" y="592531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91616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B2D5B"/>
                </a:solidFill>
              </a:rPr>
              <a:t>83,000+ jobs supported — SSE is a major UK economic engine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1417320"/>
            <a:ext cx="5577840" cy="41148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92240" y="14447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✗  RED FLAGS TO AVOID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1856231"/>
            <a:ext cx="557784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46520" y="1965960"/>
            <a:ext cx="320040" cy="475488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199339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0" y="197510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D5B"/>
                </a:solidFill>
              </a:rPr>
              <a:t>Not knowing which SSE business unit you applied for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46520" y="2606039"/>
            <a:ext cx="320040" cy="475488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263347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0" y="261518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D5B"/>
                </a:solidFill>
              </a:rPr>
              <a:t>Generic "I like renewable energy" without naming specific projects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46520" y="3246120"/>
            <a:ext cx="320040" cy="475488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327355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0" y="32552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D5B"/>
                </a:solidFill>
              </a:rPr>
              <a:t>Confusing SSE plc with Stockholm School of Economics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46520" y="3886199"/>
            <a:ext cx="320040" cy="475488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3913631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0" y="3895343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D5B"/>
                </a:solidFill>
              </a:rPr>
              <a:t>Bluffing on technical questions — say "I'd approach it by..."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46520" y="4526280"/>
            <a:ext cx="320040" cy="475488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455371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453542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D5B"/>
                </a:solidFill>
              </a:rPr>
              <a:t>Not preparing STAR answers before the 3-min think window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46520" y="5166359"/>
            <a:ext cx="320040" cy="475488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46520" y="519379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0" y="5175503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2D5B"/>
                </a:solidFill>
              </a:rPr>
              <a:t>Overlooking Safety as your #1 competency example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154680"/>
            <a:ext cx="12188952" cy="73152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You're Ready.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A651"/>
                </a:solidFill>
              </a:rPr>
              <a:t>SSE Interview Preparation — Complete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474720"/>
            <a:ext cx="640080" cy="6858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639312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Company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474720"/>
            <a:ext cx="5029200" cy="685800"/>
          </a:xfrm>
          <a:prstGeom prst="rect">
            <a:avLst/>
          </a:prstGeom>
          <a:solidFill>
            <a:srgbClr val="22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361187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FTSE 100 | Perth | £20.93bn | Est. 1998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474720"/>
            <a:ext cx="640080" cy="6858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639312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Investment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3474720"/>
            <a:ext cx="5029200" cy="685800"/>
          </a:xfrm>
          <a:prstGeom prst="rect">
            <a:avLst/>
          </a:prstGeom>
          <a:solidFill>
            <a:srgbClr val="22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61187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£33bn 5-year plan | 80% grid | £7M/day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462272"/>
            <a:ext cx="640080" cy="6858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626864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Projects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4462272"/>
            <a:ext cx="5029200" cy="685800"/>
          </a:xfrm>
          <a:prstGeom prst="rect">
            <a:avLst/>
          </a:prstGeom>
          <a:solidFill>
            <a:srgbClr val="22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59943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Dogger Bank · Viking · Peterhead CCS · Pathway to 2030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462272"/>
            <a:ext cx="640080" cy="6858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26864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Values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462272"/>
            <a:ext cx="5029200" cy="685800"/>
          </a:xfrm>
          <a:prstGeom prst="rect">
            <a:avLst/>
          </a:prstGeom>
          <a:solidFill>
            <a:srgbClr val="22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459943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Safety (first) · Service · Efficiency · Sustainability · Excellence · Teamwork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449824"/>
            <a:ext cx="640080" cy="6858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614416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5449824"/>
            <a:ext cx="5029200" cy="685800"/>
          </a:xfrm>
          <a:prstGeom prst="rect">
            <a:avLst/>
          </a:prstGeom>
          <a:solidFill>
            <a:srgbClr val="22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4440" y="5586984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Application → SHL Tests → Video Interview → Assessment Centre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5449824"/>
            <a:ext cx="640080" cy="68580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5614416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Your Edge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95160" y="5449824"/>
            <a:ext cx="5029200" cy="685800"/>
          </a:xfrm>
          <a:prstGeom prst="rect">
            <a:avLst/>
          </a:prstGeom>
          <a:solidFill>
            <a:srgbClr val="22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5586984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DCS/ESD safety systems · power conversion · battery ML · calibration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ABBDD"/>
                </a:solidFill>
              </a:rPr>
              <a:t>Good luck — the energy sector needs engineers who understand both the grid and the transition.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